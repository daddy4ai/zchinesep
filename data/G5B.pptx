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>
        <p:scale>
          <a:sx n="82" d="100"/>
          <a:sy n="82" d="100"/>
        </p:scale>
        <p:origin x="3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D78B-7563-565E-4945-534D983EB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2D5BC-A0FF-C00B-74A7-5DF6B6D02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E2EC0-AA8C-5932-22C8-5B0FBA3A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A8ED2-B1CE-5D6D-DDB1-A89623A5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189F-3084-D750-2587-A99363F5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28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2BF0-2215-C975-7A76-4B5F4A36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8BA67-BF71-6F53-E36A-271AA0B8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E3AED-6A71-649F-C138-2C0DED5F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0C7C6-AB40-84E0-DB42-83C2BC0B2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6ED01-EAE5-7655-ED44-9F5C3BAF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0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367F-A33B-D0E8-E30F-6CA9CB60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F3B8E-06A5-2F9E-A4C2-A84BF510A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AC29F-5C6C-A90E-9D8C-36FE7DC9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56089-9F9E-EEEF-1C1A-A882B5C1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C64A-7840-69F3-EC6C-9C03DAAA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5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513E8-75D6-1E20-7D0A-4B8689BD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2F78-A7F2-8932-6E4F-89FEE8B9D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60EF3-E247-0F2C-2959-EF026316A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E4CAA-6D23-D1C7-337D-1BF657A4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87612-D9DB-292C-B03E-63655D3D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18002-1791-9DB3-952A-6A0C418E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1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4037-5E2B-D4DF-1017-6BC7C8AE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97D3F-4D2A-0196-B31C-F59B121F2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4D155-38E6-086C-608E-2578789FE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3A8AD-F887-2D78-9223-F69C7BB2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D57CA-C2A6-6750-478A-93FB5539F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AFF39-62D4-79C5-04F7-713A28DD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9AC9F-242F-2B54-5608-C073323E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E6D45-CB58-9CDE-D988-1D97F727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1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A439-28B2-A8BD-DEC1-A85FCC7B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FE630-9CB2-F470-1B2B-1B96F28D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22A0D-087E-9206-1942-C589B27A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2EA6C-3208-BF25-844E-81B7E213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9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BE385-C1D3-6BE3-A763-70499B2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33B9F-B8E2-A03D-8173-F6FE6057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E4FBD-77E1-0398-04FF-42B43AC1F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3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8E45-642C-90C5-2636-C114E8B72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15051-2DE2-87F1-C0B6-D5F7E7CBB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8524A-89FE-5790-DD06-88A624B3B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AE7F5-D697-161B-D408-CF6A91E4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DA87A-80F6-D644-0C3E-F4CD94FC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F862E-596B-A91D-D0A9-CAFDB20E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2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5B36-2493-4FBE-B6A4-1171E97E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0A040-B4CC-2463-A1A9-FEDAD0558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3A58C-1BDE-38C2-48EC-E6F846FBE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93489-735A-55A9-C72D-DCAAD5F5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E4C01-AEC9-7922-DF5A-47DFC384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0B603-7707-8BDA-B2C7-1ECF05AA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4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FB61-2C87-4F53-4718-D434206B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05E99-6BF9-7835-224B-7974A693A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9670-C87F-1F9E-7B03-2A6A4C357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CA97D-2C00-823C-71FC-6A6E5949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9F6B-C4F5-B586-34A5-67222FE7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3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49B6E-EA9D-7D2C-9CE2-133BDB1C9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238CF-031C-7C68-CF2A-DFF20AB03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1D8CF-0F8B-03B9-184F-4F87B593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A5403-6F09-C41C-3E0C-D592DFF9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6D8A-20D8-D74F-3CEB-923D27D1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5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862B5-9DD4-18A1-E7F8-E1B645763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5A5B2-AF37-3867-913B-4FE00278A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C9CE-3B05-FB9D-8892-592C53AAF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61517-6EDC-45A2-9CC3-D2EBB346CCE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C7561-57BD-C71A-F325-95A77D5D8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9F8BF-13F2-0221-BE4E-43260E384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CFC55-4676-4418-8633-8AC69419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8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dbchinese.hk/lexlist_ch/result.jsp?id=0148&amp;sortBy=stroke&amp;jpC=lsh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26D8AB-44E4-AD76-1FA9-40121F463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44" y="858542"/>
            <a:ext cx="6096000" cy="1771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CCDE46-A3CA-BBA4-5886-1BCD40D21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390775"/>
            <a:ext cx="5857875" cy="3181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00E0BF-868D-A8FB-F15E-BB6433D02366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8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323D-834F-3477-5F73-4DCA5963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F5288F-C1EA-CC92-CDC2-F75CFBFFA3E2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60E3F6-2F2B-6DD8-FC6E-1D4F9004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062037"/>
            <a:ext cx="5829300" cy="1571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7BCDFA-4AA5-315A-EAB2-D62E857CE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2814637"/>
            <a:ext cx="612457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1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B48E-8489-81DF-9D03-7E0FD4FD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A8CD8B1-65A5-B8F9-C72D-ED49C45F213C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63FD44-C6A5-F39D-111F-3218CCFE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1004887"/>
            <a:ext cx="6238875" cy="1895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54DFA-FEA8-9241-DE3E-5D3FB6238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2900362"/>
            <a:ext cx="63246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2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DFF9-16F5-7CF6-87FA-16B7C7D1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BBAB6F6-04D1-EF65-20C7-A36848B41A3C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86DF72-A406-DB7C-8CA1-E5B041B7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48" y="1154140"/>
            <a:ext cx="6210300" cy="1543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9ACC6F-A409-D320-825C-917E22382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5" y="3102290"/>
            <a:ext cx="5981700" cy="315277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9E70B7-E087-06A3-AB79-AE72A6F8E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278329"/>
              </p:ext>
            </p:extLst>
          </p:nvPr>
        </p:nvGraphicFramePr>
        <p:xfrm>
          <a:off x="9406308" y="-2927152"/>
          <a:ext cx="1597488" cy="9785152"/>
        </p:xfrm>
        <a:graphic>
          <a:graphicData uri="http://schemas.openxmlformats.org/drawingml/2006/table">
            <a:tbl>
              <a:tblPr/>
              <a:tblGrid>
                <a:gridCol w="1597488">
                  <a:extLst>
                    <a:ext uri="{9D8B030D-6E8A-4147-A177-3AD203B41FA5}">
                      <a16:colId xmlns:a16="http://schemas.microsoft.com/office/drawing/2014/main" val="28066492"/>
                    </a:ext>
                  </a:extLst>
                </a:gridCol>
              </a:tblGrid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曬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7542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際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52497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鋼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66507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殖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280835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煤</a:t>
                      </a:r>
                      <a:endParaRPr lang="en-US" altLang="zh-CN" sz="2000" dirty="0">
                        <a:effectLst/>
                      </a:endParaRPr>
                    </a:p>
                    <a:p>
                      <a:r>
                        <a:rPr lang="zh-CN" altLang="en-US" sz="2000" dirty="0">
                          <a:effectLst/>
                        </a:rPr>
                        <a:t>炭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34589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蒸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627091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降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832207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凝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437893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菌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049732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預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29485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疾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06611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</a:rPr>
                        <a:t>傳説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893432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endParaRPr lang="zh-CN" altLang="en-US" sz="2000" dirty="0">
                        <a:effectLst/>
                      </a:endParaRP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815721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寸草不生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455947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實際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70306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體積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219818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鋼鐵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780200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關係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902952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密切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71610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生存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210729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繁殖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812225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糧食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15506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下降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11031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流動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842837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殺菌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077495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預防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437475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治療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162916"/>
                  </a:ext>
                </a:extLst>
              </a:tr>
              <a:tr h="1554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疾病</a:t>
                      </a:r>
                    </a:p>
                  </a:txBody>
                  <a:tcPr marL="36599" marR="36599" marT="16892" marB="168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573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52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931ED-BE5C-46A3-411C-7D367209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00A68E-2270-4FA1-556E-E6B7753B995E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课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87845-2381-D5A0-F64A-AACBF8E69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574" y="674257"/>
            <a:ext cx="5972175" cy="1495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154C6D-BB29-4E2A-85AE-1B246910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925" y="2293345"/>
            <a:ext cx="6467475" cy="441007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C4B120-F595-FD21-74DD-3FE86D992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42843"/>
              </p:ext>
            </p:extLst>
          </p:nvPr>
        </p:nvGraphicFramePr>
        <p:xfrm>
          <a:off x="9707276" y="-3332474"/>
          <a:ext cx="1436006" cy="11004312"/>
        </p:xfrm>
        <a:graphic>
          <a:graphicData uri="http://schemas.openxmlformats.org/drawingml/2006/table">
            <a:tbl>
              <a:tblPr/>
              <a:tblGrid>
                <a:gridCol w="1436006">
                  <a:extLst>
                    <a:ext uri="{9D8B030D-6E8A-4147-A177-3AD203B41FA5}">
                      <a16:colId xmlns:a16="http://schemas.microsoft.com/office/drawing/2014/main" val="103927879"/>
                    </a:ext>
                  </a:extLst>
                </a:gridCol>
              </a:tblGrid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召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78995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缺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99588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允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5228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典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75028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欺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01313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慮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0014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辭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30061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拒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57792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斥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3781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職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13133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削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7947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協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4995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進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1760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攻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30467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無價之寳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17337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召集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91614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商議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0857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機智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64094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理虧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28682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完好無缺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27097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絕口不提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3147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怒髮衝冠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76780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承諾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52211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得罪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40480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推辭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78206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擅長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49526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同歸菸盡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70263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怒目圄睜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20897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毫不示弱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6983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削弱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95436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利益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2114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同心協力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8648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保衛</a:t>
                      </a:r>
                    </a:p>
                  </a:txBody>
                  <a:tcPr marL="31054" marR="31054" marT="14332" marB="14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6069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F16A55C-C3D0-D320-2D23-94477DC598B5}"/>
              </a:ext>
            </a:extLst>
          </p:cNvPr>
          <p:cNvSpPr/>
          <p:nvPr/>
        </p:nvSpPr>
        <p:spPr>
          <a:xfrm flipH="1" flipV="1">
            <a:off x="3812583" y="1477537"/>
            <a:ext cx="1015139" cy="870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603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4E0F5-CD7F-753E-E8A4-88B06964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D17DF2B-E386-85A7-A225-A552D3C20813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课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D7BD77-FAC1-6A0F-2693-6E533743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11" y="735443"/>
            <a:ext cx="5695950" cy="1628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C94C3A-EE04-6344-2B96-BF9737D8F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11" y="2262430"/>
            <a:ext cx="5686425" cy="455295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E45EF1-B9F6-023D-0CDF-35508A4B8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46739"/>
              </p:ext>
            </p:extLst>
          </p:nvPr>
        </p:nvGraphicFramePr>
        <p:xfrm>
          <a:off x="9260237" y="-1988406"/>
          <a:ext cx="1743559" cy="10941744"/>
        </p:xfrm>
        <a:graphic>
          <a:graphicData uri="http://schemas.openxmlformats.org/drawingml/2006/table">
            <a:tbl>
              <a:tblPr/>
              <a:tblGrid>
                <a:gridCol w="1743559">
                  <a:extLst>
                    <a:ext uri="{9D8B030D-6E8A-4147-A177-3AD203B41FA5}">
                      <a16:colId xmlns:a16="http://schemas.microsoft.com/office/drawing/2014/main" val="4032570873"/>
                    </a:ext>
                  </a:extLst>
                </a:gridCol>
              </a:tblGrid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懼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130328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迫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414951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辱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316995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屑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16920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謙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81278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討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72094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侵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95015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崇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65772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批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87437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愧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674176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振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63794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榮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50834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威迫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976971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羞辱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83883"/>
                  </a:ext>
                </a:extLst>
              </a:tr>
              <a:tr h="628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屢立戰功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07000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傲慢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34442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忍無可忍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500028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得罪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658694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不屑</a:t>
                      </a:r>
                    </a:p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阻止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238808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謙讓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372473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揚長而去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509019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侵犯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92362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戰績顯赫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963370"/>
                  </a:ext>
                </a:extLst>
              </a:tr>
              <a:tr h="62871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忠心耿耿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0503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崇拜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169594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計較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230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囉嗦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028070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慚愧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2432"/>
                  </a:ext>
                </a:extLst>
              </a:tr>
              <a:tr h="32400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吩咐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17480"/>
                  </a:ext>
                </a:extLst>
              </a:tr>
              <a:tr h="62871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  <a:latin typeface="Lucida Sans Unicode" panose="020B0602030504020204" pitchFamily="34" charset="0"/>
                          <a:ea typeface="华文楷体" panose="02010600040101010101" pitchFamily="2" charset="-122"/>
                          <a:cs typeface="Lucida Sans Unicode" panose="020B0602030504020204" pitchFamily="34" charset="0"/>
                        </a:rPr>
                        <a:t>繁榮昌盛</a:t>
                      </a:r>
                    </a:p>
                  </a:txBody>
                  <a:tcPr marL="20914" marR="20914" marT="9652" marB="9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32679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84DEF20-249E-58D8-7CD0-EA0B50217A2F}"/>
              </a:ext>
            </a:extLst>
          </p:cNvPr>
          <p:cNvSpPr/>
          <p:nvPr/>
        </p:nvSpPr>
        <p:spPr>
          <a:xfrm flipH="1" flipV="1">
            <a:off x="7803397" y="679374"/>
            <a:ext cx="1015139" cy="870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6213E-073E-A2E1-3057-AB1BB76DB556}"/>
              </a:ext>
            </a:extLst>
          </p:cNvPr>
          <p:cNvSpPr txBox="1"/>
          <p:nvPr/>
        </p:nvSpPr>
        <p:spPr>
          <a:xfrm>
            <a:off x="1939225" y="2892151"/>
            <a:ext cx="609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sng" dirty="0">
                <a:solidFill>
                  <a:srgbClr val="FF0000"/>
                </a:solidFill>
                <a:effectLst/>
                <a:latin typeface="Helvtica"/>
                <a:ea typeface="SimHei" panose="02010609060101010101" pitchFamily="49" charset="-122"/>
                <a:hlinkClick r:id="rId4"/>
              </a:rPr>
              <a:t>侵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tica"/>
                <a:ea typeface="SimHei" panose="02010609060101010101" pitchFamily="49" charset="-122"/>
              </a:rPr>
              <a:t> </a:t>
            </a:r>
            <a:endParaRPr lang="en-US" dirty="0">
              <a:latin typeface="Helvtica"/>
              <a:ea typeface="SimHei" panose="02010609060101010101" pitchFamily="49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B81B19-06D8-8B4F-C127-70A7157AE8AD}"/>
              </a:ext>
            </a:extLst>
          </p:cNvPr>
          <p:cNvSpPr txBox="1"/>
          <p:nvPr/>
        </p:nvSpPr>
        <p:spPr>
          <a:xfrm>
            <a:off x="1606012" y="3789416"/>
            <a:ext cx="60947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i="0" dirty="0">
                <a:solidFill>
                  <a:srgbClr val="000000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侵</a:t>
            </a:r>
            <a:endParaRPr lang="en-US" sz="4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FBA00-33D6-8796-9CAB-4938C5FB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865D33-BA38-149F-DBDD-1BFBB53864C6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8397F-B81F-D242-2D74-CEA24378B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885825"/>
            <a:ext cx="6067425" cy="1695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2CBBB7-0814-6049-26D7-CBBCC6EA9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712" y="2876550"/>
            <a:ext cx="6124575" cy="30956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511AE0-D89E-3EA0-A813-C27BE0CFC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479670"/>
              </p:ext>
            </p:extLst>
          </p:nvPr>
        </p:nvGraphicFramePr>
        <p:xfrm>
          <a:off x="9454291" y="-2854209"/>
          <a:ext cx="1893051" cy="9175518"/>
        </p:xfrm>
        <a:graphic>
          <a:graphicData uri="http://schemas.openxmlformats.org/drawingml/2006/table">
            <a:tbl>
              <a:tblPr/>
              <a:tblGrid>
                <a:gridCol w="1893051">
                  <a:extLst>
                    <a:ext uri="{9D8B030D-6E8A-4147-A177-3AD203B41FA5}">
                      <a16:colId xmlns:a16="http://schemas.microsoft.com/office/drawing/2014/main" val="3143328242"/>
                    </a:ext>
                  </a:extLst>
                </a:gridCol>
              </a:tblGrid>
              <a:tr h="161161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將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676590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嬴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314719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勝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887075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肯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63435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難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388415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胸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587970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惑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25334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則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49723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输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95749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整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469461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序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681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敗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82901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才能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700069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將軍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246434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勝利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5963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當然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95747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為難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976461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胸有成竹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376302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疑惑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435768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規則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90549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淡定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27398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遙遙領先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61635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endParaRPr lang="zh-CN" altLang="en-US" sz="2000" dirty="0">
                        <a:effectLst/>
                      </a:endParaRP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42636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信服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363999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調整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776666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順序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798580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反敗為勝</a:t>
                      </a:r>
                    </a:p>
                  </a:txBody>
                  <a:tcPr marL="37955" marR="37955" marT="17517" marB="175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040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4386-0615-ACCE-3E14-DB69E8970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1698B1-BD72-C959-20F8-1A92596AC5DF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86573-2809-9FC5-E2F3-B7A3A2584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081087"/>
            <a:ext cx="5772150" cy="1457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AAE8F-92E4-8143-FE60-25714AB4C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925" y="2686050"/>
            <a:ext cx="6067425" cy="38290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3DA2E2-E878-8EFA-AC4E-010B86DC0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57569"/>
              </p:ext>
            </p:extLst>
          </p:nvPr>
        </p:nvGraphicFramePr>
        <p:xfrm>
          <a:off x="9626062" y="-3818700"/>
          <a:ext cx="4351338" cy="10333800"/>
        </p:xfrm>
        <a:graphic>
          <a:graphicData uri="http://schemas.openxmlformats.org/drawingml/2006/table">
            <a:tbl>
              <a:tblPr/>
              <a:tblGrid>
                <a:gridCol w="4351338">
                  <a:extLst>
                    <a:ext uri="{9D8B030D-6E8A-4147-A177-3AD203B41FA5}">
                      <a16:colId xmlns:a16="http://schemas.microsoft.com/office/drawing/2014/main" val="2365747101"/>
                    </a:ext>
                  </a:extLst>
                </a:gridCol>
              </a:tblGrid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訪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83477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仗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0753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侮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1264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夥</a:t>
                      </a:r>
                      <a:endParaRPr lang="en-US" altLang="zh-CN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謊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18683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拱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96906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矩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54687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席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82521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業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5055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勞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8361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賊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94187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尊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20171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訪問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9237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ffectLst/>
                        </a:rPr>
                        <a:t>國勢強盛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67074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endParaRPr lang="zh-CN" altLang="en-US" sz="2000" dirty="0">
                        <a:effectLst/>
                      </a:endParaRP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18405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侮辱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41780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威風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17878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到底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03714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迎接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73777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打發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57079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規矩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2115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招待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42334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盜竊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4285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沒出息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6113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得意揚揚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05682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endParaRPr lang="zh-CN" altLang="en-US" sz="2000" dirty="0">
                        <a:effectLst/>
                      </a:endParaRP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92211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面不改色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21546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安居樂業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43340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勞動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7964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取笑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5313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尊重</a:t>
                      </a:r>
                    </a:p>
                  </a:txBody>
                  <a:tcPr marL="34159" marR="34159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225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5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92F9-CCBE-2F09-C975-005D0CAB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D7C6655-670F-2E03-6C38-2AB476761DDC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8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4475-88BA-42F3-5B47-FE578FBA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28C67F3-2E0D-B77C-D6A5-B1CD90C02101}"/>
              </a:ext>
            </a:extLst>
          </p:cNvPr>
          <p:cNvSpPr txBox="1"/>
          <p:nvPr/>
        </p:nvSpPr>
        <p:spPr>
          <a:xfrm>
            <a:off x="844658" y="379708"/>
            <a:ext cx="195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10</a:t>
            </a:r>
            <a:r>
              <a:rPr lang="zh-CN" altLang="en-US" dirty="0"/>
              <a:t>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21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310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Helvtica</vt:lpstr>
      <vt:lpstr>华文楷体</vt:lpstr>
      <vt:lpstr>Aptos</vt:lpstr>
      <vt:lpstr>Aptos Display</vt:lpstr>
      <vt:lpstr>Arial</vt:lpstr>
      <vt:lpstr>Lucida Sans Unicode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Zylox</dc:creator>
  <cp:lastModifiedBy>Alan Zylox</cp:lastModifiedBy>
  <cp:revision>3</cp:revision>
  <dcterms:created xsi:type="dcterms:W3CDTF">2025-01-13T13:55:18Z</dcterms:created>
  <dcterms:modified xsi:type="dcterms:W3CDTF">2025-02-02T16:06:01Z</dcterms:modified>
</cp:coreProperties>
</file>